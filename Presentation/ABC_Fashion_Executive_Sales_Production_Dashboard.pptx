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cbb7045-c9cd-b071-7825-c5b27c1223cc}">
          <p14:sldIdLst>
            <p14:sldId id="256"/>
          </p14:sldIdLst>
        </p14:section>
        <p14:section name="Context" id="{86c9f894-115e-67bf-b2c8-df2ddf3f18af}">
          <p14:sldIdLst>
            <p14:sldId id="257"/>
            <p14:sldId id="258"/>
            <p14:sldId id="259"/>
            <p14:sldId id="260"/>
            <p14:sldId id="261"/>
          </p14:sldIdLst>
        </p14:section>
        <p14:section name="Analysis" id="{c3e0825a-ddd3-0114-5111-e43cdf38c86a}">
          <p14:sldIdLst>
            <p14:sldId id="262"/>
            <p14:sldId id="263"/>
            <p14:sldId id="264"/>
          </p14:sldIdLst>
        </p14:section>
        <p14:section name="Outcomes" id="{e9a75d1f-b9a0-f61b-88c4-bf226ead61f6}">
          <p14:sldIdLst>
            <p14:sldId id="265"/>
            <p14:sldId id="266"/>
            <p14:sldId id="267"/>
          </p14:sldIdLst>
        </p14:section>
        <p14:section name="Close" id="{cd0d96ca-d937-1757-c1eb-a5b4607c0b4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2864DC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4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64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A7A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Total Produced</c:v>
                  </c:pt>
                  <c:pt idx="1">
                    <c:v>Total Qty Sold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8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4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components: (1) Executive Title Banner - bold uppercase header defining the command center scope. (2) Vertical left-side KPI panel - Total Revenue (4.92M), Total Qty Sold (8K), Total Produced (95K), Fulfillment Rate (92.83%) with custom icons. (3) Monthly Revenue Line Chart - timeline tracking sales fluctuations from January through June. (4) Production vs. Sales Clustered Bar Chart - factory output (Total Produced) against customer purchases (Total Qty Sold) by product style. (5) Distributor Quantity Sold Chart - column chart of sales volume across regional partners (Malabar Distributors, Western Agencies, etc.). (6) Production Variance Matrix Table - planned vs. produced quantities and variances by style and size. (7) Executive Slicers - top-header dropdown filters for Month and Product enabling full-page dynamic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65836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02920"/>
            <a:ext cx="128016" cy="128016"/>
          </a:xfrm>
          <a:prstGeom prst="rect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722376"/>
            <a:ext cx="128016" cy="128016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1146536" y="502920"/>
            <a:ext cx="128016" cy="128016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11146536" y="722376"/>
            <a:ext cx="128016" cy="128016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502920"/>
            <a:ext cx="128016" cy="128016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11365992" y="722376"/>
            <a:ext cx="128016" cy="128016"/>
          </a:xfrm>
          <a:prstGeom prst="rect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ABC Fashion Pvt. Ltd.  |  Executive Sales &amp; Production Performance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02920"/>
            <a:ext cx="128016" cy="128016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722376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1146536" y="502920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11146536" y="722376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502920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11365992" y="722376"/>
            <a:ext cx="128016" cy="128016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ABC Fashion Pvt. Ltd.  |  Executive Sales &amp; Production Performance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FB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WCA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02920"/>
            <a:ext cx="128016" cy="128016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722376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1146536" y="502920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11146536" y="722376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502920"/>
            <a:ext cx="128016" cy="1280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11365992" y="722376"/>
            <a:ext cx="128016" cy="128016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256032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ABC Fashion Pvt. Ltd.  |  Executive Sales &amp; Production Performance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FB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spc="300" kern="0" dirty="0">
                <a:solidFill>
                  <a:schemeClr val="accent2"/>
                </a:solidFill>
              </a:rPr>
              <a:t>ABC FASHION PVT. LTD.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EXECUTIVE SALES &amp; PRODUCTION PERFORMANCE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Presented by: Bala Abineshwar B</a:t>
            </a:r>
            <a:endParaRPr lang="en-US" sz="1800" dirty="0"/>
          </a:p>
        </p:txBody>
      </p:sp>
      <p:sp>
        <p:nvSpPr>
          <p:cNvPr id="4" name="Decor bar 1"/>
          <p:cNvSpPr/>
          <p:nvPr/>
        </p:nvSpPr>
        <p:spPr>
          <a:xfrm>
            <a:off x="7680960" y="4572000"/>
            <a:ext cx="384048" cy="1280160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5" name="Decor bar 2"/>
          <p:cNvSpPr/>
          <p:nvPr/>
        </p:nvSpPr>
        <p:spPr>
          <a:xfrm>
            <a:off x="8229600" y="3931920"/>
            <a:ext cx="384048" cy="1920240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6" name="Decor bar 3"/>
          <p:cNvSpPr/>
          <p:nvPr/>
        </p:nvSpPr>
        <p:spPr>
          <a:xfrm>
            <a:off x="8778240" y="4206240"/>
            <a:ext cx="384048" cy="1645920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7" name="Decor bar 4"/>
          <p:cNvSpPr/>
          <p:nvPr/>
        </p:nvSpPr>
        <p:spPr>
          <a:xfrm>
            <a:off x="9326880" y="3200400"/>
            <a:ext cx="384048" cy="2651760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8" name="Decor bar 5"/>
          <p:cNvSpPr/>
          <p:nvPr/>
        </p:nvSpPr>
        <p:spPr>
          <a:xfrm>
            <a:off x="9875520" y="3566160"/>
            <a:ext cx="384048" cy="2286000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9" name="Decor bar 6"/>
          <p:cNvSpPr/>
          <p:nvPr/>
        </p:nvSpPr>
        <p:spPr>
          <a:xfrm>
            <a:off x="10424160" y="2468880"/>
            <a:ext cx="384048" cy="33832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Decor bar 7"/>
          <p:cNvSpPr/>
          <p:nvPr/>
        </p:nvSpPr>
        <p:spPr>
          <a:xfrm>
            <a:off x="10972800" y="2834640"/>
            <a:ext cx="384048" cy="3017520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1" name="Decor ring"/>
          <p:cNvSpPr/>
          <p:nvPr/>
        </p:nvSpPr>
        <p:spPr>
          <a:xfrm>
            <a:off x="10332720" y="731520"/>
            <a:ext cx="1097280" cy="10972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Overview panel"/>
          <p:cNvSpPr/>
          <p:nvPr/>
        </p:nvSpPr>
        <p:spPr>
          <a:xfrm>
            <a:off x="548640" y="1463040"/>
            <a:ext cx="5669280" cy="4480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ABC Fashion Pvt. Ltd. Executive Sales &amp; Production Performance Analytics focuses on analyzing apparel manufacturing and regional distribution data to understand revenue generation, inventory costs, product line performance, and operational efficiency.</a:t>
            </a:r>
            <a:endParaRPr lang="en-US" sz="2000" dirty="0"/>
          </a:p>
        </p:txBody>
      </p:sp>
      <p:sp>
        <p:nvSpPr>
          <p:cNvPr id="6" name="Focus card 1"/>
          <p:cNvSpPr/>
          <p:nvPr/>
        </p:nvSpPr>
        <p:spPr>
          <a:xfrm>
            <a:off x="6583680" y="1463040"/>
            <a:ext cx="237744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7" name="Revenue Generation circle"/>
          <p:cNvSpPr/>
          <p:nvPr/>
        </p:nvSpPr>
        <p:spPr>
          <a:xfrm>
            <a:off x="685800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Revenue Gene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202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Revenue Generation</a:t>
            </a:r>
            <a:endParaRPr lang="en-US" sz="1800" dirty="0"/>
          </a:p>
        </p:txBody>
      </p:sp>
      <p:sp>
        <p:nvSpPr>
          <p:cNvPr id="10" name="Focus card 2"/>
          <p:cNvSpPr/>
          <p:nvPr/>
        </p:nvSpPr>
        <p:spPr>
          <a:xfrm>
            <a:off x="9445752" y="1463040"/>
            <a:ext cx="237744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1" name="Inventory Costs circle"/>
          <p:cNvSpPr/>
          <p:nvPr/>
        </p:nvSpPr>
        <p:spPr>
          <a:xfrm>
            <a:off x="9720072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nventory Co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720072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Inventory Costs</a:t>
            </a:r>
            <a:endParaRPr lang="en-US" sz="1800" dirty="0"/>
          </a:p>
        </p:txBody>
      </p:sp>
      <p:sp>
        <p:nvSpPr>
          <p:cNvPr id="14" name="Focus card 3"/>
          <p:cNvSpPr/>
          <p:nvPr/>
        </p:nvSpPr>
        <p:spPr>
          <a:xfrm>
            <a:off x="6583680" y="3840480"/>
            <a:ext cx="237744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5" name="Product Line Performance circle"/>
          <p:cNvSpPr/>
          <p:nvPr/>
        </p:nvSpPr>
        <p:spPr>
          <a:xfrm>
            <a:off x="6858000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oduct Line Perform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97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 Line Performance</a:t>
            </a:r>
            <a:endParaRPr lang="en-US" sz="1800" dirty="0"/>
          </a:p>
        </p:txBody>
      </p:sp>
      <p:sp>
        <p:nvSpPr>
          <p:cNvPr id="18" name="Focus card 4"/>
          <p:cNvSpPr/>
          <p:nvPr/>
        </p:nvSpPr>
        <p:spPr>
          <a:xfrm>
            <a:off x="9445752" y="3840480"/>
            <a:ext cx="237744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9" name="Operational Efficiency circle"/>
          <p:cNvSpPr/>
          <p:nvPr/>
        </p:nvSpPr>
        <p:spPr>
          <a:xfrm>
            <a:off x="9720072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Operational Efficienc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4297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20072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Operational Efficiency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Objectives count panel"/>
          <p:cNvSpPr/>
          <p:nvPr/>
        </p:nvSpPr>
        <p:spPr>
          <a:xfrm>
            <a:off x="548640" y="1463040"/>
            <a:ext cx="3200400" cy="45354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bg1"/>
                </a:solidFill>
              </a:rPr>
              <a:t>5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Objectives guiding the analysis</a:t>
            </a:r>
            <a:endParaRPr lang="en-US" sz="2000" dirty="0"/>
          </a:p>
        </p:txBody>
      </p:sp>
      <p:sp>
        <p:nvSpPr>
          <p:cNvPr id="6" name="Objective row 1"/>
          <p:cNvSpPr/>
          <p:nvPr/>
        </p:nvSpPr>
        <p:spPr>
          <a:xfrm>
            <a:off x="4114800" y="1463040"/>
            <a:ext cx="7525512" cy="804672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7" name="Objective number 1"/>
          <p:cNvSpPr/>
          <p:nvPr/>
        </p:nvSpPr>
        <p:spPr>
          <a:xfrm>
            <a:off x="4343400" y="163677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4630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Analyze overall revenue and sales quantity performance</a:t>
            </a:r>
            <a:endParaRPr lang="en-US" sz="1600" dirty="0"/>
          </a:p>
        </p:txBody>
      </p:sp>
      <p:sp>
        <p:nvSpPr>
          <p:cNvPr id="10" name="Objective row 2"/>
          <p:cNvSpPr/>
          <p:nvPr/>
        </p:nvSpPr>
        <p:spPr>
          <a:xfrm>
            <a:off x="4114800" y="2377440"/>
            <a:ext cx="7525512" cy="804672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1" name="Objective number 2"/>
          <p:cNvSpPr/>
          <p:nvPr/>
        </p:nvSpPr>
        <p:spPr>
          <a:xfrm>
            <a:off x="4343400" y="255117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3774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Identify trends in monthly revenue and sales momentum</a:t>
            </a:r>
            <a:endParaRPr lang="en-US" sz="1600" dirty="0"/>
          </a:p>
        </p:txBody>
      </p:sp>
      <p:sp>
        <p:nvSpPr>
          <p:cNvPr id="14" name="Objective row 3"/>
          <p:cNvSpPr/>
          <p:nvPr/>
        </p:nvSpPr>
        <p:spPr>
          <a:xfrm>
            <a:off x="4114800" y="3291840"/>
            <a:ext cx="7525512" cy="804672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5" name="Objective number 3"/>
          <p:cNvSpPr/>
          <p:nvPr/>
        </p:nvSpPr>
        <p:spPr>
          <a:xfrm>
            <a:off x="4343400" y="346557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434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Understand product style, size, and manufacturing performance</a:t>
            </a:r>
            <a:endParaRPr lang="en-US" sz="1600" dirty="0"/>
          </a:p>
        </p:txBody>
      </p:sp>
      <p:sp>
        <p:nvSpPr>
          <p:cNvPr id="18" name="Objective row 4"/>
          <p:cNvSpPr/>
          <p:nvPr/>
        </p:nvSpPr>
        <p:spPr>
          <a:xfrm>
            <a:off x="4114800" y="4206240"/>
            <a:ext cx="7525512" cy="804672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9" name="Objective number 4"/>
          <p:cNvSpPr/>
          <p:nvPr/>
        </p:nvSpPr>
        <p:spPr>
          <a:xfrm>
            <a:off x="4343400" y="437997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434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2062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Evaluate operational metrics such as factory planning, actual production output, fulfillment rates, and distributor distribution</a:t>
            </a:r>
            <a:endParaRPr lang="en-US" sz="1600" dirty="0"/>
          </a:p>
        </p:txBody>
      </p:sp>
      <p:sp>
        <p:nvSpPr>
          <p:cNvPr id="22" name="Objective row 5"/>
          <p:cNvSpPr/>
          <p:nvPr/>
        </p:nvSpPr>
        <p:spPr>
          <a:xfrm>
            <a:off x="4114800" y="5120640"/>
            <a:ext cx="7525512" cy="804672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23" name="Objective number 5"/>
          <p:cNvSpPr/>
          <p:nvPr/>
        </p:nvSpPr>
        <p:spPr>
          <a:xfrm>
            <a:off x="4343400" y="529437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4340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1206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actionable insights and interactive executive dashboards to support strategic decision-making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</a:t>
            </a:r>
            <a:endParaRPr lang="en-US" sz="3400" dirty="0"/>
          </a:p>
        </p:txBody>
      </p:sp>
      <p:sp>
        <p:nvSpPr>
          <p:cNvPr id="3" name="Domain card"/>
          <p:cNvSpPr/>
          <p:nvPr/>
        </p:nvSpPr>
        <p:spPr>
          <a:xfrm>
            <a:off x="548640" y="1463040"/>
            <a:ext cx="5486400" cy="15544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DOMAIN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Women’s Apparel Manufacturing &amp; Distribution</a:t>
            </a:r>
            <a:endParaRPr lang="en-US" sz="2200" dirty="0"/>
          </a:p>
        </p:txBody>
      </p:sp>
      <p:sp>
        <p:nvSpPr>
          <p:cNvPr id="6" name="Structure card"/>
          <p:cNvSpPr/>
          <p:nvPr/>
        </p:nvSpPr>
        <p:spPr>
          <a:xfrm>
            <a:off x="548640" y="3291840"/>
            <a:ext cx="5486400" cy="265176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DATASET STRUCTURE  ·  2 CORE TABLES</a:t>
            </a:r>
            <a:endParaRPr lang="en-US" sz="1200" dirty="0"/>
          </a:p>
        </p:txBody>
      </p:sp>
      <p:sp>
        <p:nvSpPr>
          <p:cNvPr id="8" name="Table tile Sales_Data"/>
          <p:cNvSpPr/>
          <p:nvPr/>
        </p:nvSpPr>
        <p:spPr>
          <a:xfrm>
            <a:off x="822960" y="4023360"/>
            <a:ext cx="2377440" cy="164592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9" name="Image 0" descr="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297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4983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Sales_Data</a:t>
            </a:r>
            <a:endParaRPr lang="en-US" sz="1800" dirty="0"/>
          </a:p>
        </p:txBody>
      </p:sp>
      <p:sp>
        <p:nvSpPr>
          <p:cNvPr id="11" name="Table tile Production Data"/>
          <p:cNvSpPr/>
          <p:nvPr/>
        </p:nvSpPr>
        <p:spPr>
          <a:xfrm>
            <a:off x="3383280" y="4023360"/>
            <a:ext cx="2377440" cy="164592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12" name="Image 1" descr="Tab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97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4983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Production Data</a:t>
            </a:r>
            <a:endParaRPr lang="en-US" sz="1800" dirty="0"/>
          </a:p>
        </p:txBody>
      </p:sp>
      <p:sp>
        <p:nvSpPr>
          <p:cNvPr id="14" name="Period card"/>
          <p:cNvSpPr/>
          <p:nvPr/>
        </p:nvSpPr>
        <p:spPr>
          <a:xfrm>
            <a:off x="6336792" y="1463040"/>
            <a:ext cx="5303520" cy="448056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02552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PERIOD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702552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Semi-Annual Performance Cycle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702552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January to June</a:t>
            </a:r>
            <a:endParaRPr lang="en-US" sz="1800" dirty="0"/>
          </a:p>
        </p:txBody>
      </p:sp>
      <p:sp>
        <p:nvSpPr>
          <p:cNvPr id="18" name="Month chip Jan"/>
          <p:cNvSpPr/>
          <p:nvPr/>
        </p:nvSpPr>
        <p:spPr>
          <a:xfrm>
            <a:off x="6702552" y="374904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02552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Jan</a:t>
            </a:r>
            <a:endParaRPr lang="en-US" sz="1800" dirty="0"/>
          </a:p>
        </p:txBody>
      </p:sp>
      <p:sp>
        <p:nvSpPr>
          <p:cNvPr id="20" name="Month chip Feb"/>
          <p:cNvSpPr/>
          <p:nvPr/>
        </p:nvSpPr>
        <p:spPr>
          <a:xfrm>
            <a:off x="8302752" y="374904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302752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Feb</a:t>
            </a:r>
            <a:endParaRPr lang="en-US" sz="1800" dirty="0"/>
          </a:p>
        </p:txBody>
      </p:sp>
      <p:sp>
        <p:nvSpPr>
          <p:cNvPr id="22" name="Month chip Mar"/>
          <p:cNvSpPr/>
          <p:nvPr/>
        </p:nvSpPr>
        <p:spPr>
          <a:xfrm>
            <a:off x="9902952" y="374904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902952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</a:t>
            </a:r>
            <a:endParaRPr lang="en-US" sz="1800" dirty="0"/>
          </a:p>
        </p:txBody>
      </p:sp>
      <p:sp>
        <p:nvSpPr>
          <p:cNvPr id="24" name="Month chip Apr"/>
          <p:cNvSpPr/>
          <p:nvPr/>
        </p:nvSpPr>
        <p:spPr>
          <a:xfrm>
            <a:off x="6702552" y="475488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02552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</a:t>
            </a:r>
            <a:endParaRPr lang="en-US" sz="1800" dirty="0"/>
          </a:p>
        </p:txBody>
      </p:sp>
      <p:sp>
        <p:nvSpPr>
          <p:cNvPr id="26" name="Month chip May"/>
          <p:cNvSpPr/>
          <p:nvPr/>
        </p:nvSpPr>
        <p:spPr>
          <a:xfrm>
            <a:off x="8302752" y="475488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302752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May</a:t>
            </a:r>
            <a:endParaRPr lang="en-US" sz="1800" dirty="0"/>
          </a:p>
        </p:txBody>
      </p:sp>
      <p:sp>
        <p:nvSpPr>
          <p:cNvPr id="28" name="Month chip Jun"/>
          <p:cNvSpPr/>
          <p:nvPr/>
        </p:nvSpPr>
        <p:spPr>
          <a:xfrm>
            <a:off x="9902952" y="4754880"/>
            <a:ext cx="13716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902952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Tools Used</a:t>
            </a:r>
            <a:endParaRPr lang="en-US" sz="3400" dirty="0"/>
          </a:p>
        </p:txBody>
      </p:sp>
      <p:sp>
        <p:nvSpPr>
          <p:cNvPr id="3" name="Core tool panel"/>
          <p:cNvSpPr/>
          <p:nvPr/>
        </p:nvSpPr>
        <p:spPr>
          <a:xfrm>
            <a:off x="548640" y="1463040"/>
            <a:ext cx="3840480" cy="4480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CORE TOOL</a:t>
            </a:r>
            <a:endParaRPr lang="en-US" sz="1200" dirty="0"/>
          </a:p>
        </p:txBody>
      </p:sp>
      <p:sp>
        <p:nvSpPr>
          <p:cNvPr id="5" name="Power BI circle"/>
          <p:cNvSpPr/>
          <p:nvPr/>
        </p:nvSpPr>
        <p:spPr>
          <a:xfrm>
            <a:off x="914400" y="23774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ower 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6746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931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Power BI Desktop</a:t>
            </a:r>
            <a:endParaRPr lang="en-US" sz="3000" dirty="0"/>
          </a:p>
        </p:txBody>
      </p:sp>
      <p:sp>
        <p:nvSpPr>
          <p:cNvPr id="8" name="Tool row 1"/>
          <p:cNvSpPr/>
          <p:nvPr/>
        </p:nvSpPr>
        <p:spPr>
          <a:xfrm>
            <a:off x="4754880" y="1463040"/>
            <a:ext cx="6885432" cy="134416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9" name="Advanced DAX Measures &amp; Modeling circle"/>
          <p:cNvSpPr/>
          <p:nvPr/>
        </p:nvSpPr>
        <p:spPr>
          <a:xfrm>
            <a:off x="5074920" y="1769364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Advanced DAX Measures &amp; Mod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5224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26480" y="1773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Advanced DAX Measures &amp; Modeling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CALCULATE, SUM, FORMAT</a:t>
            </a:r>
            <a:endParaRPr lang="en-US" sz="1400" dirty="0"/>
          </a:p>
        </p:txBody>
      </p:sp>
      <p:sp>
        <p:nvSpPr>
          <p:cNvPr id="13" name="Tool row 2"/>
          <p:cNvSpPr/>
          <p:nvPr/>
        </p:nvSpPr>
        <p:spPr>
          <a:xfrm>
            <a:off x="4754880" y="3031236"/>
            <a:ext cx="6885432" cy="134416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4" name="Star Schema Relational Architecture circle"/>
          <p:cNvSpPr/>
          <p:nvPr/>
        </p:nvSpPr>
        <p:spPr>
          <a:xfrm>
            <a:off x="507492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tar Schema Relational Architec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520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33421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 Schema Relational Architecture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37627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Centralized bridging table</a:t>
            </a:r>
            <a:endParaRPr lang="en-US" sz="1400" dirty="0"/>
          </a:p>
        </p:txBody>
      </p:sp>
      <p:sp>
        <p:nvSpPr>
          <p:cNvPr id="18" name="Tool row 3"/>
          <p:cNvSpPr/>
          <p:nvPr/>
        </p:nvSpPr>
        <p:spPr>
          <a:xfrm>
            <a:off x="4754880" y="4599432"/>
            <a:ext cx="6885432" cy="134416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9" name="Dynamic Month and Product Slicers circle"/>
          <p:cNvSpPr/>
          <p:nvPr/>
        </p:nvSpPr>
        <p:spPr>
          <a:xfrm>
            <a:off x="5074920" y="4905756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Dynamic Month and Product Slic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08863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26480" y="49103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Dynamic Month and Product Slicers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126480" y="53309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Top-header dropdown filters for full-page control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Preparation &amp; Modeling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3383280" cy="3611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4" name="Inspect the Schema circle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nspect the Sch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60320" y="18288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Inspect the Schema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Inspected relational schema and verified primary/foreign key integrity across dimension and fact tables.</a:t>
            </a:r>
            <a:endParaRPr lang="en-US" sz="1500" dirty="0"/>
          </a:p>
        </p:txBody>
      </p:sp>
      <p:pic>
        <p:nvPicPr>
          <p:cNvPr id="9" name="Image 1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3200400"/>
            <a:ext cx="274320" cy="274320"/>
          </a:xfrm>
          <a:prstGeom prst="rect">
            <a:avLst/>
          </a:prstGeom>
        </p:spPr>
      </p:pic>
      <p:sp>
        <p:nvSpPr>
          <p:cNvPr id="10" name="Step card 2"/>
          <p:cNvSpPr/>
          <p:nvPr/>
        </p:nvSpPr>
        <p:spPr>
          <a:xfrm>
            <a:off x="4407408" y="1554480"/>
            <a:ext cx="3383280" cy="3611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1" name="Create Calculated Columns circle"/>
          <p:cNvSpPr/>
          <p:nvPr/>
        </p:nvSpPr>
        <p:spPr>
          <a:xfrm>
            <a:off x="4727448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Create Calculated Colum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20574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19088" y="18288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02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4727448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Create Calculated Columns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727448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Created custom calculated columns such as MonthName within the Calendar Table for streamlined UI filtering.</a:t>
            </a:r>
            <a:endParaRPr lang="en-US" sz="1500" dirty="0"/>
          </a:p>
        </p:txBody>
      </p:sp>
      <p:pic>
        <p:nvPicPr>
          <p:cNvPr id="16" name="Image 3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200400"/>
            <a:ext cx="274320" cy="274320"/>
          </a:xfrm>
          <a:prstGeom prst="rect">
            <a:avLst/>
          </a:prstGeom>
        </p:spPr>
      </p:pic>
      <p:sp>
        <p:nvSpPr>
          <p:cNvPr id="17" name="Step card 3"/>
          <p:cNvSpPr/>
          <p:nvPr/>
        </p:nvSpPr>
        <p:spPr>
          <a:xfrm>
            <a:off x="8266176" y="1554480"/>
            <a:ext cx="3383280" cy="3611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8" name="Check Data Quality circle"/>
          <p:cNvSpPr/>
          <p:nvPr/>
        </p:nvSpPr>
        <p:spPr>
          <a:xfrm>
            <a:off x="8586216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4" descr="Check Data Qual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0574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277856" y="18288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03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8586216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 Data Quality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586216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Checked data consistency, formatting, and numeric aggregations prior to building the command center interface.</a:t>
            </a:r>
            <a:endParaRPr lang="en-US" sz="1500" dirty="0"/>
          </a:p>
        </p:txBody>
      </p:sp>
      <p:sp>
        <p:nvSpPr>
          <p:cNvPr id="23" name="Outcome banner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Result: a verified, consistent model ready for the command center interface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2560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Dashboard Visual Layout &amp; Analysis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1614989" y="996696"/>
            <a:ext cx="8961717" cy="504748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0" descr="Power BI dashboard: ABC Fashion Pvt. Ltd. Executive Sales &amp; Production Performanc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853" y="1051560"/>
            <a:ext cx="8851989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69853" y="6117336"/>
            <a:ext cx="8851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Executive command center: KPI cards, trends, production vs. sales, distributors, variance matrix, and slicers.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FB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Insights</a:t>
            </a:r>
            <a:endParaRPr lang="en-US" sz="3400" dirty="0"/>
          </a:p>
        </p:txBody>
      </p:sp>
      <p:sp>
        <p:nvSpPr>
          <p:cNvPr id="3" name="Production vs sales panel"/>
          <p:cNvSpPr/>
          <p:nvPr/>
        </p:nvSpPr>
        <p:spPr>
          <a:xfrm>
            <a:off x="548640" y="1463040"/>
            <a:ext cx="4389120" cy="4535424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Factory production vs. customer sales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4884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ulfillment callout"/>
          <p:cNvSpPr/>
          <p:nvPr/>
        </p:nvSpPr>
        <p:spPr>
          <a:xfrm>
            <a:off x="822960" y="4846320"/>
            <a:ext cx="3840480" cy="9144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4846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92.83%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Order fulfillment rate</a:t>
            </a:r>
            <a:endParaRPr lang="en-US" sz="1400" dirty="0"/>
          </a:p>
        </p:txBody>
      </p:sp>
      <p:sp>
        <p:nvSpPr>
          <p:cNvPr id="9" name="Insight row 1"/>
          <p:cNvSpPr/>
          <p:nvPr/>
        </p:nvSpPr>
        <p:spPr>
          <a:xfrm>
            <a:off x="5303520" y="1463040"/>
            <a:ext cx="6336792" cy="84124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463040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Concentrated output: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Styles like Smart Bottom and DreamSoft recorded high production volumes, highlighting concentrated manufacturing output.</a:t>
            </a:r>
            <a:endParaRPr lang="en-US" sz="1400" dirty="0"/>
          </a:p>
        </p:txBody>
      </p:sp>
      <p:sp>
        <p:nvSpPr>
          <p:cNvPr id="11" name="Insight row 2"/>
          <p:cNvSpPr/>
          <p:nvPr/>
        </p:nvSpPr>
        <p:spPr>
          <a:xfrm>
            <a:off x="5303520" y="2386584"/>
            <a:ext cx="6336792" cy="84124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32120" y="2386584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 regions: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Malabar Distributors and Western Agencies captured the highest regional sales volume share.</a:t>
            </a:r>
            <a:endParaRPr lang="en-US" sz="1400" dirty="0"/>
          </a:p>
        </p:txBody>
      </p:sp>
      <p:sp>
        <p:nvSpPr>
          <p:cNvPr id="13" name="Insight row 3"/>
          <p:cNvSpPr/>
          <p:nvPr/>
        </p:nvSpPr>
        <p:spPr>
          <a:xfrm>
            <a:off x="5303520" y="3310128"/>
            <a:ext cx="6336792" cy="84124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3310128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Mid-period peak: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revenue trends show distinct sales acceleration peaking toward the middle of the active period.</a:t>
            </a:r>
            <a:endParaRPr lang="en-US" sz="1400" dirty="0"/>
          </a:p>
        </p:txBody>
      </p:sp>
      <p:sp>
        <p:nvSpPr>
          <p:cNvPr id="15" name="Insight row 4"/>
          <p:cNvSpPr/>
          <p:nvPr/>
        </p:nvSpPr>
        <p:spPr>
          <a:xfrm>
            <a:off x="5303520" y="4233672"/>
            <a:ext cx="6336792" cy="84124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32120" y="4233672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Inventory gap: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significant volume gap exists between factory production totals (95K) and actual customer sales (8K), pointing directly to heavy inventory accumulation.</a:t>
            </a:r>
            <a:endParaRPr lang="en-US" sz="1400" dirty="0"/>
          </a:p>
        </p:txBody>
      </p:sp>
      <p:sp>
        <p:nvSpPr>
          <p:cNvPr id="17" name="Insight row 5"/>
          <p:cNvSpPr/>
          <p:nvPr/>
        </p:nvSpPr>
        <p:spPr>
          <a:xfrm>
            <a:off x="5303520" y="5157216"/>
            <a:ext cx="6336792" cy="841248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5157216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Strong fulfillment: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overall order fulfillment rate stands strong at 92.83%, while style-level size variances reveal specific manufacturing shortfalls.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Observations</a:t>
            </a:r>
            <a:endParaRPr lang="en-US" sz="3400" dirty="0"/>
          </a:p>
        </p:txBody>
      </p:sp>
      <p:sp>
        <p:nvSpPr>
          <p:cNvPr id="3" name="Observation card 1"/>
          <p:cNvSpPr/>
          <p:nvPr/>
        </p:nvSpPr>
        <p:spPr>
          <a:xfrm>
            <a:off x="548640" y="146304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4" name="Rising inventory holding costs circle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Rising inventory holding co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Rising inventory holding costs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286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Heavy manufacturing batches without proportional sales demand indicate rising inventory holding costs.</a:t>
            </a:r>
            <a:endParaRPr lang="en-US" sz="1500" dirty="0"/>
          </a:p>
        </p:txBody>
      </p:sp>
      <p:sp>
        <p:nvSpPr>
          <p:cNvPr id="8" name="Observation card 2"/>
          <p:cNvSpPr/>
          <p:nvPr/>
        </p:nvSpPr>
        <p:spPr>
          <a:xfrm>
            <a:off x="6245352" y="146304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9" name="Potential stock imbalances circle"/>
          <p:cNvSpPr/>
          <p:nvPr/>
        </p:nvSpPr>
        <p:spPr>
          <a:xfrm>
            <a:off x="6565392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otential stock imbalan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16952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Potential stock imbalances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616952" y="2286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Regional distribution shows varying movement speeds across wholesale partners, suggesting potential stock imbalances.</a:t>
            </a:r>
            <a:endParaRPr lang="en-US" sz="1500" dirty="0"/>
          </a:p>
        </p:txBody>
      </p:sp>
      <p:sp>
        <p:nvSpPr>
          <p:cNvPr id="13" name="Observation card 3"/>
          <p:cNvSpPr/>
          <p:nvPr/>
        </p:nvSpPr>
        <p:spPr>
          <a:xfrm>
            <a:off x="548640" y="3867912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4" name="Factory planning inefficiencies circle"/>
          <p:cNvSpPr/>
          <p:nvPr/>
        </p:nvSpPr>
        <p:spPr>
          <a:xfrm>
            <a:off x="868680" y="423367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Factory planning inefficienc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165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Factory planning inefficiencies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69087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Production variances across sizing variants point to planning inefficiencies at the factory level.</a:t>
            </a:r>
            <a:endParaRPr lang="en-US" sz="1500" dirty="0"/>
          </a:p>
        </p:txBody>
      </p:sp>
      <p:sp>
        <p:nvSpPr>
          <p:cNvPr id="18" name="Observation card 4"/>
          <p:cNvSpPr/>
          <p:nvPr/>
        </p:nvSpPr>
        <p:spPr>
          <a:xfrm>
            <a:off x="6245352" y="3867912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9" name="Production tracking gap circle"/>
          <p:cNvSpPr/>
          <p:nvPr/>
        </p:nvSpPr>
        <p:spPr>
          <a:xfrm>
            <a:off x="6565392" y="423367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oduction tracking g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4165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1695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Production tracking gap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2" y="469087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absence of direct date-stamped production tracking requires monitoring manufacturing output as a stable baseline against dynamic sales.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Recommendations</a:t>
            </a:r>
            <a:endParaRPr lang="en-US" sz="3400" dirty="0"/>
          </a:p>
        </p:txBody>
      </p:sp>
      <p:sp>
        <p:nvSpPr>
          <p:cNvPr id="3" name="Recommendation 1"/>
          <p:cNvSpPr/>
          <p:nvPr/>
        </p:nvSpPr>
        <p:spPr>
          <a:xfrm>
            <a:off x="548640" y="1463040"/>
            <a:ext cx="2011680" cy="4480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Re-align Production Targets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Adjust future factory manufacturing schedules to match real market demand, mitigating excess inventory costs.</a:t>
            </a:r>
            <a:endParaRPr lang="en-US" sz="1500" dirty="0"/>
          </a:p>
        </p:txBody>
      </p:sp>
      <p:sp>
        <p:nvSpPr>
          <p:cNvPr id="7" name="Recommendation 2"/>
          <p:cNvSpPr/>
          <p:nvPr/>
        </p:nvSpPr>
        <p:spPr>
          <a:xfrm>
            <a:off x="2816352" y="1463040"/>
            <a:ext cx="2011680" cy="4480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99232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Optimize Regional Stock Allocation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35204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Address distributor-specific sales velocities to ensure high-demand regions avoid stock shortages.</a:t>
            </a:r>
            <a:endParaRPr lang="en-US" sz="1500" dirty="0"/>
          </a:p>
        </p:txBody>
      </p:sp>
      <p:sp>
        <p:nvSpPr>
          <p:cNvPr id="11" name="Recommendation 3"/>
          <p:cNvSpPr/>
          <p:nvPr/>
        </p:nvSpPr>
        <p:spPr>
          <a:xfrm>
            <a:off x="5084064" y="1463040"/>
            <a:ext cx="2011680" cy="4480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66944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Monitor Style-Level Variances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35204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Utilize the size-and-style matrix to correct sizing production imbalances before launching new batches.</a:t>
            </a:r>
            <a:endParaRPr lang="en-US" sz="1500" dirty="0"/>
          </a:p>
        </p:txBody>
      </p:sp>
      <p:sp>
        <p:nvSpPr>
          <p:cNvPr id="15" name="Recommendation 4"/>
          <p:cNvSpPr/>
          <p:nvPr/>
        </p:nvSpPr>
        <p:spPr>
          <a:xfrm>
            <a:off x="7351776" y="1463040"/>
            <a:ext cx="2011680" cy="4480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3465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Streamline Working Capital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35204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Reduce tied-up capital in slow-moving apparel lines by leveraging sales trend visibility.</a:t>
            </a:r>
            <a:endParaRPr lang="en-US" sz="1500" dirty="0"/>
          </a:p>
        </p:txBody>
      </p:sp>
      <p:sp>
        <p:nvSpPr>
          <p:cNvPr id="19" name="Recommendation 5"/>
          <p:cNvSpPr/>
          <p:nvPr/>
        </p:nvSpPr>
        <p:spPr>
          <a:xfrm>
            <a:off x="9619488" y="1463040"/>
            <a:ext cx="2011680" cy="4480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02368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Enhance Distributor Support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352044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Work closely with lower-performing regional partners to accelerate sell-through rates.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FB7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Analysis summary panel"/>
          <p:cNvSpPr/>
          <p:nvPr/>
        </p:nvSpPr>
        <p:spPr>
          <a:xfrm>
            <a:off x="548640" y="1463040"/>
            <a:ext cx="5760720" cy="4480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The Power BI analysis provided a comprehensive view of sales trends, production output, inventory variance, and regional distribution at ABC Fashion Pvt. Ltd.</a:t>
            </a:r>
            <a:endParaRPr lang="en-US" sz="2200" dirty="0"/>
          </a:p>
        </p:txBody>
      </p:sp>
      <p:sp>
        <p:nvSpPr>
          <p:cNvPr id="6" name="Dashboard value panel"/>
          <p:cNvSpPr/>
          <p:nvPr/>
        </p:nvSpPr>
        <p:spPr>
          <a:xfrm>
            <a:off x="6611112" y="1463040"/>
            <a:ext cx="5029200" cy="448056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76872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THE DASHBOARD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228600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executive command center dashboard successfully unifies financial reporting and manufacturing metrics into a single interface, empowering leadership to identify cost inefficiencies and support data-driven decision-making.</a:t>
            </a:r>
            <a:endParaRPr lang="en-US" sz="1700" dirty="0"/>
          </a:p>
        </p:txBody>
      </p:sp>
      <p:sp>
        <p:nvSpPr>
          <p:cNvPr id="9" name="Chip Sales trends"/>
          <p:cNvSpPr/>
          <p:nvPr/>
        </p:nvSpPr>
        <p:spPr>
          <a:xfrm>
            <a:off x="6976872" y="4754880"/>
            <a:ext cx="210312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76872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Sales trends</a:t>
            </a:r>
            <a:endParaRPr lang="en-US" sz="1300" dirty="0"/>
          </a:p>
        </p:txBody>
      </p:sp>
      <p:sp>
        <p:nvSpPr>
          <p:cNvPr id="11" name="Chip Production output"/>
          <p:cNvSpPr/>
          <p:nvPr/>
        </p:nvSpPr>
        <p:spPr>
          <a:xfrm>
            <a:off x="9171432" y="4754880"/>
            <a:ext cx="210312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71432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Production output</a:t>
            </a:r>
            <a:endParaRPr lang="en-US" sz="1300" dirty="0"/>
          </a:p>
        </p:txBody>
      </p:sp>
      <p:sp>
        <p:nvSpPr>
          <p:cNvPr id="13" name="Chip Inventory variance"/>
          <p:cNvSpPr/>
          <p:nvPr/>
        </p:nvSpPr>
        <p:spPr>
          <a:xfrm>
            <a:off x="6976872" y="5303520"/>
            <a:ext cx="210312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76872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Inventory variance</a:t>
            </a:r>
            <a:endParaRPr lang="en-US" sz="1300" dirty="0"/>
          </a:p>
        </p:txBody>
      </p:sp>
      <p:sp>
        <p:nvSpPr>
          <p:cNvPr id="15" name="Chip Regional distribution"/>
          <p:cNvSpPr/>
          <p:nvPr/>
        </p:nvSpPr>
        <p:spPr>
          <a:xfrm>
            <a:off x="9171432" y="5303520"/>
            <a:ext cx="210312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71432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Regional distribution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365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Learnings</a:t>
            </a:r>
            <a:endParaRPr lang="en-US" sz="3400" dirty="0"/>
          </a:p>
        </p:txBody>
      </p:sp>
      <p:sp>
        <p:nvSpPr>
          <p:cNvPr id="3" name="Learning row 1"/>
          <p:cNvSpPr/>
          <p:nvPr/>
        </p:nvSpPr>
        <p:spPr>
          <a:xfrm>
            <a:off x="548640" y="1463040"/>
            <a:ext cx="11091672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4" name="Learning 1 circle"/>
          <p:cNvSpPr/>
          <p:nvPr/>
        </p:nvSpPr>
        <p:spPr>
          <a:xfrm>
            <a:off x="914400" y="171450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Learni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4630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Mastered star schema data modeling and bridging relationships in complex supply-chain and sales structures.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14630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01</a:t>
            </a:r>
            <a:endParaRPr lang="en-US" sz="4400" dirty="0"/>
          </a:p>
        </p:txBody>
      </p:sp>
      <p:sp>
        <p:nvSpPr>
          <p:cNvPr id="8" name="Learning row 2"/>
          <p:cNvSpPr/>
          <p:nvPr/>
        </p:nvSpPr>
        <p:spPr>
          <a:xfrm>
            <a:off x="548640" y="3063240"/>
            <a:ext cx="11091672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9" name="Learning 2 circle"/>
          <p:cNvSpPr/>
          <p:nvPr/>
        </p:nvSpPr>
        <p:spPr>
          <a:xfrm>
            <a:off x="914400" y="331470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Learni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520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30632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Practiced building responsive, executive-grade single-page command center layouts with custom UI elements.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966960" y="30632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02</a:t>
            </a:r>
            <a:endParaRPr lang="en-US" sz="4400" dirty="0"/>
          </a:p>
        </p:txBody>
      </p:sp>
      <p:sp>
        <p:nvSpPr>
          <p:cNvPr id="13" name="Learning row 3"/>
          <p:cNvSpPr/>
          <p:nvPr/>
        </p:nvSpPr>
        <p:spPr>
          <a:xfrm>
            <a:off x="548640" y="4663440"/>
            <a:ext cx="11091672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4" name="Learning 3 circle"/>
          <p:cNvSpPr/>
          <p:nvPr/>
        </p:nvSpPr>
        <p:spPr>
          <a:xfrm>
            <a:off x="914400" y="491490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Learni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120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03120" y="46634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Learned how to convert raw manufacturing data and retail transactions into actionable business recommendations.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966960" y="46634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03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You!</a:t>
            </a:r>
            <a:endParaRPr lang="en-US" sz="34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Questions &amp; Answers</a:t>
            </a:r>
            <a:endParaRPr lang="en-US" sz="3400" dirty="0"/>
          </a:p>
        </p:txBody>
      </p:sp>
      <p:sp>
        <p:nvSpPr>
          <p:cNvPr id="3" name="Decor ring outer"/>
          <p:cNvSpPr/>
          <p:nvPr/>
        </p:nvSpPr>
        <p:spPr>
          <a:xfrm>
            <a:off x="7132320" y="1051560"/>
            <a:ext cx="4572000" cy="4572000"/>
          </a:xfrm>
          <a:prstGeom prst="ellipse">
            <a:avLst/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4" name="Decor ring middle"/>
          <p:cNvSpPr/>
          <p:nvPr/>
        </p:nvSpPr>
        <p:spPr>
          <a:xfrm>
            <a:off x="7955280" y="1874520"/>
            <a:ext cx="2926080" cy="2926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5" name="Decor core"/>
          <p:cNvSpPr/>
          <p:nvPr/>
        </p:nvSpPr>
        <p:spPr>
          <a:xfrm>
            <a:off x="8732520" y="2651760"/>
            <a:ext cx="1371600" cy="137160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BC Fashion Analytics">
  <a:themeElements>
    <a:clrScheme name="ABC Fashion Analytics">
      <a:dk1>
        <a:srgbClr val="14243A"/>
      </a:dk1>
      <a:lt1>
        <a:srgbClr val="FFFFFF"/>
      </a:lt1>
      <a:dk2>
        <a:srgbClr val="1E3556"/>
      </a:dk2>
      <a:lt2>
        <a:srgbClr val="F7F9FC"/>
      </a:lt2>
      <a:accent1>
        <a:srgbClr val="2864DC"/>
      </a:accent1>
      <a:accent2>
        <a:srgbClr val="19A7A1"/>
      </a:accent2>
      <a:accent3>
        <a:srgbClr val="EAF1FF"/>
      </a:accent3>
      <a:accent4>
        <a:srgbClr val="64748B"/>
      </a:accent4>
      <a:accent5>
        <a:srgbClr val="1E3556"/>
      </a:accent5>
      <a:accent6>
        <a:srgbClr val="9FB7E8"/>
      </a:accent6>
      <a:hlink>
        <a:srgbClr val="2864DC"/>
      </a:hlink>
      <a:folHlink>
        <a:srgbClr val="64748B"/>
      </a:folHlink>
    </a:clrScheme>
    <a:fontScheme name="ABC Fashion Analyt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Fashion Pvt. Ltd. - Executive Sales &amp; Production Performance Dashboard</dc:title>
  <dc:subject>PptxGenJS Presentation</dc:subject>
  <dc:creator>Bala Abineshwar B</dc:creator>
  <cp:lastModifiedBy>Bala Abineshwar B</cp:lastModifiedBy>
  <cp:revision>1</cp:revision>
  <dcterms:created xsi:type="dcterms:W3CDTF">2026-10-23T10:27:01Z</dcterms:created>
  <dcterms:modified xsi:type="dcterms:W3CDTF">2026-10-23T10:27:01Z</dcterms:modified>
</cp:coreProperties>
</file>